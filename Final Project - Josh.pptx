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7" r:id="rId7"/>
    <p:sldId id="266" r:id="rId8"/>
    <p:sldId id="264" r:id="rId9"/>
    <p:sldId id="263" r:id="rId10"/>
    <p:sldId id="262" r:id="rId11"/>
    <p:sldId id="261" r:id="rId12"/>
    <p:sldId id="26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Aloba" userId="20edb175a7a1b3e5" providerId="LiveId" clId="{3695EEE0-CFEA-4E52-B954-9C07C030844E}"/>
    <pc:docChg chg="custSel addSld modSld">
      <pc:chgData name="Joshua Aloba" userId="20edb175a7a1b3e5" providerId="LiveId" clId="{3695EEE0-CFEA-4E52-B954-9C07C030844E}" dt="2025-12-14T20:44:05.961" v="2966" actId="20577"/>
      <pc:docMkLst>
        <pc:docMk/>
      </pc:docMkLst>
      <pc:sldChg chg="addSp delSp modSp mod delAnim">
        <pc:chgData name="Joshua Aloba" userId="20edb175a7a1b3e5" providerId="LiveId" clId="{3695EEE0-CFEA-4E52-B954-9C07C030844E}" dt="2025-12-14T14:05:55.924" v="2850" actId="478"/>
        <pc:sldMkLst>
          <pc:docMk/>
          <pc:sldMk cId="2417122008" sldId="256"/>
        </pc:sldMkLst>
        <pc:picChg chg="add del mod">
          <ac:chgData name="Joshua Aloba" userId="20edb175a7a1b3e5" providerId="LiveId" clId="{3695EEE0-CFEA-4E52-B954-9C07C030844E}" dt="2025-12-14T14:05:55.924" v="2850" actId="478"/>
          <ac:picMkLst>
            <pc:docMk/>
            <pc:sldMk cId="2417122008" sldId="256"/>
            <ac:picMk id="4" creationId="{42C75B01-5694-EB3F-64A7-3B20E6CE9D72}"/>
          </ac:picMkLst>
        </pc:picChg>
      </pc:sldChg>
      <pc:sldChg chg="modSp mod">
        <pc:chgData name="Joshua Aloba" userId="20edb175a7a1b3e5" providerId="LiveId" clId="{3695EEE0-CFEA-4E52-B954-9C07C030844E}" dt="2025-12-14T12:12:42.933" v="433" actId="20577"/>
        <pc:sldMkLst>
          <pc:docMk/>
          <pc:sldMk cId="3598578721" sldId="258"/>
        </pc:sldMkLst>
        <pc:spChg chg="mod">
          <ac:chgData name="Joshua Aloba" userId="20edb175a7a1b3e5" providerId="LiveId" clId="{3695EEE0-CFEA-4E52-B954-9C07C030844E}" dt="2025-12-14T12:06:07.972" v="50" actId="20577"/>
          <ac:spMkLst>
            <pc:docMk/>
            <pc:sldMk cId="3598578721" sldId="258"/>
            <ac:spMk id="2" creationId="{B5B333FA-3520-C3A3-428B-D14938C00912}"/>
          </ac:spMkLst>
        </pc:spChg>
        <pc:spChg chg="mod">
          <ac:chgData name="Joshua Aloba" userId="20edb175a7a1b3e5" providerId="LiveId" clId="{3695EEE0-CFEA-4E52-B954-9C07C030844E}" dt="2025-12-14T12:12:42.933" v="433" actId="20577"/>
          <ac:spMkLst>
            <pc:docMk/>
            <pc:sldMk cId="3598578721" sldId="258"/>
            <ac:spMk id="3" creationId="{C66B0323-C6DE-3035-E551-CAE1FEF88D24}"/>
          </ac:spMkLst>
        </pc:spChg>
      </pc:sldChg>
      <pc:sldChg chg="modSp mod">
        <pc:chgData name="Joshua Aloba" userId="20edb175a7a1b3e5" providerId="LiveId" clId="{3695EEE0-CFEA-4E52-B954-9C07C030844E}" dt="2025-12-14T12:14:57.366" v="714" actId="20577"/>
        <pc:sldMkLst>
          <pc:docMk/>
          <pc:sldMk cId="1445093720" sldId="259"/>
        </pc:sldMkLst>
        <pc:spChg chg="mod">
          <ac:chgData name="Joshua Aloba" userId="20edb175a7a1b3e5" providerId="LiveId" clId="{3695EEE0-CFEA-4E52-B954-9C07C030844E}" dt="2025-12-14T12:13:47.752" v="470" actId="20577"/>
          <ac:spMkLst>
            <pc:docMk/>
            <pc:sldMk cId="1445093720" sldId="259"/>
            <ac:spMk id="2" creationId="{48948621-F48E-0CFD-0485-98FC2F109CF6}"/>
          </ac:spMkLst>
        </pc:spChg>
        <pc:spChg chg="mod">
          <ac:chgData name="Joshua Aloba" userId="20edb175a7a1b3e5" providerId="LiveId" clId="{3695EEE0-CFEA-4E52-B954-9C07C030844E}" dt="2025-12-14T12:14:57.366" v="714" actId="20577"/>
          <ac:spMkLst>
            <pc:docMk/>
            <pc:sldMk cId="1445093720" sldId="259"/>
            <ac:spMk id="3" creationId="{C1A9C3FC-2B3A-2B79-1E88-DF46284B078F}"/>
          </ac:spMkLst>
        </pc:spChg>
      </pc:sldChg>
      <pc:sldChg chg="addSp modSp mod">
        <pc:chgData name="Joshua Aloba" userId="20edb175a7a1b3e5" providerId="LiveId" clId="{3695EEE0-CFEA-4E52-B954-9C07C030844E}" dt="2025-12-14T20:44:05.961" v="2966" actId="20577"/>
        <pc:sldMkLst>
          <pc:docMk/>
          <pc:sldMk cId="1996552754" sldId="260"/>
        </pc:sldMkLst>
        <pc:spChg chg="mod">
          <ac:chgData name="Joshua Aloba" userId="20edb175a7a1b3e5" providerId="LiveId" clId="{3695EEE0-CFEA-4E52-B954-9C07C030844E}" dt="2025-12-14T13:57:59.856" v="2846" actId="14100"/>
          <ac:spMkLst>
            <pc:docMk/>
            <pc:sldMk cId="1996552754" sldId="260"/>
            <ac:spMk id="2" creationId="{48663A45-5A70-CD36-5D10-0A334C44F0B1}"/>
          </ac:spMkLst>
        </pc:spChg>
        <pc:spChg chg="mod">
          <ac:chgData name="Joshua Aloba" userId="20edb175a7a1b3e5" providerId="LiveId" clId="{3695EEE0-CFEA-4E52-B954-9C07C030844E}" dt="2025-12-14T13:58:02.264" v="2848" actId="27636"/>
          <ac:spMkLst>
            <pc:docMk/>
            <pc:sldMk cId="1996552754" sldId="260"/>
            <ac:spMk id="3" creationId="{16C30238-6754-CD9F-1CCF-F899B38C2052}"/>
          </ac:spMkLst>
        </pc:spChg>
        <pc:spChg chg="add mod">
          <ac:chgData name="Joshua Aloba" userId="20edb175a7a1b3e5" providerId="LiveId" clId="{3695EEE0-CFEA-4E52-B954-9C07C030844E}" dt="2025-12-14T20:44:05.961" v="2966" actId="20577"/>
          <ac:spMkLst>
            <pc:docMk/>
            <pc:sldMk cId="1996552754" sldId="260"/>
            <ac:spMk id="4" creationId="{7E7AA4D1-3151-470F-3E4C-9C04E75CD889}"/>
          </ac:spMkLst>
        </pc:spChg>
      </pc:sldChg>
      <pc:sldChg chg="modSp new mod">
        <pc:chgData name="Joshua Aloba" userId="20edb175a7a1b3e5" providerId="LiveId" clId="{3695EEE0-CFEA-4E52-B954-9C07C030844E}" dt="2025-12-14T12:33:39.405" v="2769" actId="20577"/>
        <pc:sldMkLst>
          <pc:docMk/>
          <pc:sldMk cId="604690961" sldId="261"/>
        </pc:sldMkLst>
        <pc:spChg chg="mod">
          <ac:chgData name="Joshua Aloba" userId="20edb175a7a1b3e5" providerId="LiveId" clId="{3695EEE0-CFEA-4E52-B954-9C07C030844E}" dt="2025-12-14T12:30:14.100" v="2485" actId="20577"/>
          <ac:spMkLst>
            <pc:docMk/>
            <pc:sldMk cId="604690961" sldId="261"/>
            <ac:spMk id="2" creationId="{6E243A58-12C0-8E83-2550-7A1F156ED1FD}"/>
          </ac:spMkLst>
        </pc:spChg>
        <pc:spChg chg="mod">
          <ac:chgData name="Joshua Aloba" userId="20edb175a7a1b3e5" providerId="LiveId" clId="{3695EEE0-CFEA-4E52-B954-9C07C030844E}" dt="2025-12-14T12:33:39.405" v="2769" actId="20577"/>
          <ac:spMkLst>
            <pc:docMk/>
            <pc:sldMk cId="604690961" sldId="261"/>
            <ac:spMk id="3" creationId="{B7BF0363-BDEB-1C28-514C-DF7FB9ED77D5}"/>
          </ac:spMkLst>
        </pc:spChg>
      </pc:sldChg>
      <pc:sldChg chg="modSp new mod">
        <pc:chgData name="Joshua Aloba" userId="20edb175a7a1b3e5" providerId="LiveId" clId="{3695EEE0-CFEA-4E52-B954-9C07C030844E}" dt="2025-12-14T12:29:57.651" v="2468" actId="1035"/>
        <pc:sldMkLst>
          <pc:docMk/>
          <pc:sldMk cId="2285852616" sldId="262"/>
        </pc:sldMkLst>
        <pc:spChg chg="mod">
          <ac:chgData name="Joshua Aloba" userId="20edb175a7a1b3e5" providerId="LiveId" clId="{3695EEE0-CFEA-4E52-B954-9C07C030844E}" dt="2025-12-14T12:29:57.651" v="2468" actId="1035"/>
          <ac:spMkLst>
            <pc:docMk/>
            <pc:sldMk cId="2285852616" sldId="262"/>
            <ac:spMk id="2" creationId="{D0F23D21-DF4E-F351-4A21-D70B9661CA1C}"/>
          </ac:spMkLst>
        </pc:spChg>
        <pc:spChg chg="mod">
          <ac:chgData name="Joshua Aloba" userId="20edb175a7a1b3e5" providerId="LiveId" clId="{3695EEE0-CFEA-4E52-B954-9C07C030844E}" dt="2025-12-14T12:29:53.155" v="2448" actId="1036"/>
          <ac:spMkLst>
            <pc:docMk/>
            <pc:sldMk cId="2285852616" sldId="262"/>
            <ac:spMk id="3" creationId="{989125C3-9D74-D06F-3AA0-F4D85D7FDE58}"/>
          </ac:spMkLst>
        </pc:spChg>
      </pc:sldChg>
      <pc:sldChg chg="addSp modSp new mod">
        <pc:chgData name="Joshua Aloba" userId="20edb175a7a1b3e5" providerId="LiveId" clId="{3695EEE0-CFEA-4E52-B954-9C07C030844E}" dt="2025-12-14T13:55:04.925" v="2824" actId="122"/>
        <pc:sldMkLst>
          <pc:docMk/>
          <pc:sldMk cId="3405054018" sldId="263"/>
        </pc:sldMkLst>
        <pc:spChg chg="mod">
          <ac:chgData name="Joshua Aloba" userId="20edb175a7a1b3e5" providerId="LiveId" clId="{3695EEE0-CFEA-4E52-B954-9C07C030844E}" dt="2025-12-14T13:55:04.925" v="2824" actId="122"/>
          <ac:spMkLst>
            <pc:docMk/>
            <pc:sldMk cId="3405054018" sldId="263"/>
            <ac:spMk id="2" creationId="{CFF9E171-C3BD-8154-EBBC-CD829AEBDE7E}"/>
          </ac:spMkLst>
        </pc:spChg>
        <pc:spChg chg="mod">
          <ac:chgData name="Joshua Aloba" userId="20edb175a7a1b3e5" providerId="LiveId" clId="{3695EEE0-CFEA-4E52-B954-9C07C030844E}" dt="2025-12-14T13:51:42.129" v="2802" actId="1076"/>
          <ac:spMkLst>
            <pc:docMk/>
            <pc:sldMk cId="3405054018" sldId="263"/>
            <ac:spMk id="3" creationId="{4A938250-8545-B88A-3481-C8AD9600130B}"/>
          </ac:spMkLst>
        </pc:spChg>
        <pc:picChg chg="add mod">
          <ac:chgData name="Joshua Aloba" userId="20edb175a7a1b3e5" providerId="LiveId" clId="{3695EEE0-CFEA-4E52-B954-9C07C030844E}" dt="2025-12-14T13:54:52.601" v="2822" actId="14100"/>
          <ac:picMkLst>
            <pc:docMk/>
            <pc:sldMk cId="3405054018" sldId="263"/>
            <ac:picMk id="3074" creationId="{A3B6695E-8046-1DB8-C44C-E520E128A3A8}"/>
          </ac:picMkLst>
        </pc:picChg>
        <pc:picChg chg="add mod">
          <ac:chgData name="Joshua Aloba" userId="20edb175a7a1b3e5" providerId="LiveId" clId="{3695EEE0-CFEA-4E52-B954-9C07C030844E}" dt="2025-12-14T13:54:55.304" v="2823" actId="14100"/>
          <ac:picMkLst>
            <pc:docMk/>
            <pc:sldMk cId="3405054018" sldId="263"/>
            <ac:picMk id="3076" creationId="{E5DAAA5A-1024-9EFF-3F7A-502CD8803C3C}"/>
          </ac:picMkLst>
        </pc:picChg>
      </pc:sldChg>
      <pc:sldChg chg="addSp modSp new mod">
        <pc:chgData name="Joshua Aloba" userId="20edb175a7a1b3e5" providerId="LiveId" clId="{3695EEE0-CFEA-4E52-B954-9C07C030844E}" dt="2025-12-14T13:51:12.886" v="2797" actId="1076"/>
        <pc:sldMkLst>
          <pc:docMk/>
          <pc:sldMk cId="2286325483" sldId="264"/>
        </pc:sldMkLst>
        <pc:spChg chg="mod">
          <ac:chgData name="Joshua Aloba" userId="20edb175a7a1b3e5" providerId="LiveId" clId="{3695EEE0-CFEA-4E52-B954-9C07C030844E}" dt="2025-12-14T13:51:08.949" v="2796" actId="14100"/>
          <ac:spMkLst>
            <pc:docMk/>
            <pc:sldMk cId="2286325483" sldId="264"/>
            <ac:spMk id="2" creationId="{0CCA9B85-E4F6-3206-B480-D8F6008D47D1}"/>
          </ac:spMkLst>
        </pc:spChg>
        <pc:spChg chg="mod">
          <ac:chgData name="Joshua Aloba" userId="20edb175a7a1b3e5" providerId="LiveId" clId="{3695EEE0-CFEA-4E52-B954-9C07C030844E}" dt="2025-12-14T13:50:58.218" v="2792" actId="115"/>
          <ac:spMkLst>
            <pc:docMk/>
            <pc:sldMk cId="2286325483" sldId="264"/>
            <ac:spMk id="3" creationId="{E60C3B14-E7F8-C6E7-2731-3CA9FA7A0B5C}"/>
          </ac:spMkLst>
        </pc:spChg>
        <pc:picChg chg="add mod">
          <ac:chgData name="Joshua Aloba" userId="20edb175a7a1b3e5" providerId="LiveId" clId="{3695EEE0-CFEA-4E52-B954-9C07C030844E}" dt="2025-12-14T13:51:12.886" v="2797" actId="1076"/>
          <ac:picMkLst>
            <pc:docMk/>
            <pc:sldMk cId="2286325483" sldId="264"/>
            <ac:picMk id="2050" creationId="{E13D2F99-BEED-84C9-D702-8F6B1DBA8424}"/>
          </ac:picMkLst>
        </pc:picChg>
      </pc:sldChg>
      <pc:sldChg chg="modSp new mod">
        <pc:chgData name="Joshua Aloba" userId="20edb175a7a1b3e5" providerId="LiveId" clId="{3695EEE0-CFEA-4E52-B954-9C07C030844E}" dt="2025-12-14T12:17:16.214" v="1112" actId="20577"/>
        <pc:sldMkLst>
          <pc:docMk/>
          <pc:sldMk cId="3258337082" sldId="265"/>
        </pc:sldMkLst>
        <pc:spChg chg="mod">
          <ac:chgData name="Joshua Aloba" userId="20edb175a7a1b3e5" providerId="LiveId" clId="{3695EEE0-CFEA-4E52-B954-9C07C030844E}" dt="2025-12-14T12:15:11.433" v="741" actId="20577"/>
          <ac:spMkLst>
            <pc:docMk/>
            <pc:sldMk cId="3258337082" sldId="265"/>
            <ac:spMk id="2" creationId="{CDA94E28-0C6C-525E-A385-F519396FF4B8}"/>
          </ac:spMkLst>
        </pc:spChg>
        <pc:spChg chg="mod">
          <ac:chgData name="Joshua Aloba" userId="20edb175a7a1b3e5" providerId="LiveId" clId="{3695EEE0-CFEA-4E52-B954-9C07C030844E}" dt="2025-12-14T12:17:16.214" v="1112" actId="20577"/>
          <ac:spMkLst>
            <pc:docMk/>
            <pc:sldMk cId="3258337082" sldId="265"/>
            <ac:spMk id="3" creationId="{E9F332AD-88AE-8E6A-AAF2-3E1B5E737789}"/>
          </ac:spMkLst>
        </pc:spChg>
      </pc:sldChg>
      <pc:sldChg chg="addSp modSp new mod">
        <pc:chgData name="Joshua Aloba" userId="20edb175a7a1b3e5" providerId="LiveId" clId="{3695EEE0-CFEA-4E52-B954-9C07C030844E}" dt="2025-12-14T13:55:19.774" v="2827" actId="1076"/>
        <pc:sldMkLst>
          <pc:docMk/>
          <pc:sldMk cId="3221901350" sldId="266"/>
        </pc:sldMkLst>
        <pc:spChg chg="mod">
          <ac:chgData name="Joshua Aloba" userId="20edb175a7a1b3e5" providerId="LiveId" clId="{3695EEE0-CFEA-4E52-B954-9C07C030844E}" dt="2025-12-14T13:55:12.501" v="2825" actId="122"/>
          <ac:spMkLst>
            <pc:docMk/>
            <pc:sldMk cId="3221901350" sldId="266"/>
            <ac:spMk id="2" creationId="{60F01938-EEB4-56C6-5918-6F109CB8F0B2}"/>
          </ac:spMkLst>
        </pc:spChg>
        <pc:spChg chg="mod">
          <ac:chgData name="Joshua Aloba" userId="20edb175a7a1b3e5" providerId="LiveId" clId="{3695EEE0-CFEA-4E52-B954-9C07C030844E}" dt="2025-12-14T13:49:44.314" v="2778" actId="115"/>
          <ac:spMkLst>
            <pc:docMk/>
            <pc:sldMk cId="3221901350" sldId="266"/>
            <ac:spMk id="3" creationId="{8EA99E1F-932B-6873-8609-DA3EC6D4AD03}"/>
          </ac:spMkLst>
        </pc:spChg>
        <pc:picChg chg="add mod">
          <ac:chgData name="Joshua Aloba" userId="20edb175a7a1b3e5" providerId="LiveId" clId="{3695EEE0-CFEA-4E52-B954-9C07C030844E}" dt="2025-12-14T13:55:19.774" v="2827" actId="1076"/>
          <ac:picMkLst>
            <pc:docMk/>
            <pc:sldMk cId="3221901350" sldId="266"/>
            <ac:picMk id="1026" creationId="{60DA5D63-A57A-23FA-13D3-B6CCEE10E0F6}"/>
          </ac:picMkLst>
        </pc:picChg>
      </pc:sldChg>
      <pc:sldChg chg="modSp new mod">
        <pc:chgData name="Joshua Aloba" userId="20edb175a7a1b3e5" providerId="LiveId" clId="{3695EEE0-CFEA-4E52-B954-9C07C030844E}" dt="2025-12-14T12:19:53.131" v="1449" actId="1035"/>
        <pc:sldMkLst>
          <pc:docMk/>
          <pc:sldMk cId="530324569" sldId="267"/>
        </pc:sldMkLst>
        <pc:spChg chg="mod">
          <ac:chgData name="Joshua Aloba" userId="20edb175a7a1b3e5" providerId="LiveId" clId="{3695EEE0-CFEA-4E52-B954-9C07C030844E}" dt="2025-12-14T12:19:05.672" v="1431" actId="1036"/>
          <ac:spMkLst>
            <pc:docMk/>
            <pc:sldMk cId="530324569" sldId="267"/>
            <ac:spMk id="2" creationId="{8813B3A5-6AEE-4B76-CC27-9DB57B9E45A4}"/>
          </ac:spMkLst>
        </pc:spChg>
        <pc:spChg chg="mod">
          <ac:chgData name="Joshua Aloba" userId="20edb175a7a1b3e5" providerId="LiveId" clId="{3695EEE0-CFEA-4E52-B954-9C07C030844E}" dt="2025-12-14T12:19:53.131" v="1449" actId="1035"/>
          <ac:spMkLst>
            <pc:docMk/>
            <pc:sldMk cId="530324569" sldId="267"/>
            <ac:spMk id="3" creationId="{4956C403-6606-1B2F-237C-145E29E68E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394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06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223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7917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1155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3087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6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9946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742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268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376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9723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76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9992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91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831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7131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5B50F-953B-4142-A88C-9962714BF315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AA76C-B8A4-484B-B78D-EB8F4F3375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69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?utm_source=chatgpt.com" TargetMode="External"/><Relationship Id="rId2" Type="http://schemas.openxmlformats.org/officeDocument/2006/relationships/hyperlink" Target="https://www.python.org/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b.rmit.edu.au/easy-cite/?styleguide=styleguide-1&amp;utm_source=chatgpt.com" TargetMode="External"/><Relationship Id="rId4" Type="http://schemas.openxmlformats.org/officeDocument/2006/relationships/hyperlink" Target="https://matplotlib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49521-B96C-371B-F434-1AD9E7C010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/>
              <a:t>Driving Revenue Growth Through Customer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3C466-9C8C-B291-8454-2403AD525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602037"/>
            <a:ext cx="8791575" cy="2133599"/>
          </a:xfrm>
        </p:spPr>
        <p:txBody>
          <a:bodyPr>
            <a:normAutofit/>
          </a:bodyPr>
          <a:lstStyle/>
          <a:p>
            <a:r>
              <a:rPr lang="en-AU" sz="2800" b="1" u="sng" dirty="0" err="1"/>
              <a:t>SuperFoodsMax</a:t>
            </a:r>
            <a:r>
              <a:rPr lang="en-AU" sz="2800" b="1" dirty="0"/>
              <a:t> (From 2019 to 2022)</a:t>
            </a:r>
          </a:p>
          <a:p>
            <a:r>
              <a:rPr lang="en-AU" dirty="0"/>
              <a:t>FINAL PROJECT – RMIT Online: Business Analytics</a:t>
            </a:r>
          </a:p>
          <a:p>
            <a:r>
              <a:rPr lang="en-AU" b="1" dirty="0"/>
              <a:t>Joshua Aloba</a:t>
            </a:r>
          </a:p>
          <a:p>
            <a:r>
              <a:rPr lang="en-AU" dirty="0"/>
              <a:t>15 December 2025</a:t>
            </a:r>
          </a:p>
        </p:txBody>
      </p:sp>
    </p:spTree>
    <p:extLst>
      <p:ext uri="{BB962C8B-B14F-4D97-AF65-F5344CB8AC3E}">
        <p14:creationId xmlns:p14="http://schemas.microsoft.com/office/powerpoint/2010/main" val="241712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720"/>
    </mc:Choice>
    <mc:Fallback xmlns="">
      <p:transition spd="slow" advTm="3272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BABF8-0438-C7E0-A24F-4183CE5E7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769742" cy="2227424"/>
          </a:xfrm>
        </p:spPr>
        <p:txBody>
          <a:bodyPr>
            <a:normAutofit/>
          </a:bodyPr>
          <a:lstStyle/>
          <a:p>
            <a:r>
              <a:rPr lang="en-AU" b="1" u="sng" dirty="0"/>
              <a:t>Business question</a:t>
            </a:r>
            <a:r>
              <a:rPr lang="en-AU" b="1" dirty="0"/>
              <a:t>: </a:t>
            </a:r>
            <a:r>
              <a:rPr lang="en-AU" dirty="0"/>
              <a:t>How can </a:t>
            </a:r>
            <a:r>
              <a:rPr lang="en-AU" dirty="0" err="1"/>
              <a:t>superfoodsmax</a:t>
            </a:r>
            <a:r>
              <a:rPr lang="en-AU" dirty="0"/>
              <a:t> increase its sales </a:t>
            </a:r>
            <a:br>
              <a:rPr lang="en-AU" dirty="0"/>
            </a:br>
            <a:r>
              <a:rPr lang="en-AU" dirty="0"/>
              <a:t>revenue by 5% over the next two years?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288BA-ACAA-EF0D-E57F-876F9A473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051425"/>
            <a:ext cx="9905999" cy="2739776"/>
          </a:xfrm>
        </p:spPr>
        <p:txBody>
          <a:bodyPr>
            <a:normAutofit/>
          </a:bodyPr>
          <a:lstStyle/>
          <a:p>
            <a:r>
              <a:rPr lang="en-AU" sz="3200" dirty="0"/>
              <a:t>This analysis will focus on:</a:t>
            </a:r>
          </a:p>
          <a:p>
            <a:pPr lvl="1"/>
            <a:r>
              <a:rPr lang="en-AU" sz="2800" dirty="0"/>
              <a:t>Increase in the average spending of existing loyal customers.</a:t>
            </a:r>
          </a:p>
          <a:p>
            <a:pPr lvl="1"/>
            <a:r>
              <a:rPr lang="en-AU" sz="2800" dirty="0"/>
              <a:t>Improvement in the conversion of first-time customers in to existing loyal customers.</a:t>
            </a:r>
          </a:p>
        </p:txBody>
      </p:sp>
    </p:spTree>
    <p:extLst>
      <p:ext uri="{BB962C8B-B14F-4D97-AF65-F5344CB8AC3E}">
        <p14:creationId xmlns:p14="http://schemas.microsoft.com/office/powerpoint/2010/main" val="405263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333FA-3520-C3A3-428B-D14938C00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does this matter for decision makers?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B0323-C6DE-3035-E551-CAE1FEF88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 revenue growth has stagnated despite the ongoing customer acquisitions.</a:t>
            </a:r>
          </a:p>
          <a:p>
            <a:r>
              <a:rPr lang="en-AU" dirty="0"/>
              <a:t>Loyal customers will typically:</a:t>
            </a:r>
          </a:p>
          <a:p>
            <a:pPr lvl="1"/>
            <a:r>
              <a:rPr lang="en-AU" dirty="0"/>
              <a:t>Spends more in each transactions.</a:t>
            </a:r>
          </a:p>
          <a:p>
            <a:pPr lvl="1"/>
            <a:r>
              <a:rPr lang="en-AU" dirty="0"/>
              <a:t>Purchases more frequently.</a:t>
            </a:r>
          </a:p>
          <a:p>
            <a:r>
              <a:rPr lang="en-AU" dirty="0"/>
              <a:t>A high number of first-time customers do not return, limiting its long-term value.</a:t>
            </a:r>
          </a:p>
        </p:txBody>
      </p:sp>
    </p:spTree>
    <p:extLst>
      <p:ext uri="{BB962C8B-B14F-4D97-AF65-F5344CB8AC3E}">
        <p14:creationId xmlns:p14="http://schemas.microsoft.com/office/powerpoint/2010/main" val="359857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8621-F48E-0CFD-0485-98FC2F109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DATASET OVERVIEW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9C3FC-2B3A-2B79-1E88-DF46284B0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Dataset: </a:t>
            </a:r>
            <a:r>
              <a:rPr lang="en-AU" dirty="0" err="1"/>
              <a:t>SuperFoodsMax</a:t>
            </a:r>
            <a:r>
              <a:rPr lang="en-AU" dirty="0"/>
              <a:t> sales data (2019-2022)</a:t>
            </a:r>
          </a:p>
          <a:p>
            <a:r>
              <a:rPr lang="en-AU" dirty="0"/>
              <a:t>Data type: transactional customer sales data</a:t>
            </a:r>
          </a:p>
          <a:p>
            <a:r>
              <a:rPr lang="en-AU" dirty="0"/>
              <a:t>Key fields used:</a:t>
            </a:r>
          </a:p>
          <a:p>
            <a:pPr lvl="1"/>
            <a:r>
              <a:rPr lang="en-AU" dirty="0"/>
              <a:t>Customer ID</a:t>
            </a:r>
          </a:p>
          <a:p>
            <a:pPr lvl="1"/>
            <a:r>
              <a:rPr lang="en-AU" dirty="0"/>
              <a:t>Transaction date</a:t>
            </a:r>
          </a:p>
          <a:p>
            <a:pPr lvl="1"/>
            <a:r>
              <a:rPr lang="en-AU" dirty="0"/>
              <a:t>Revenue / Order value</a:t>
            </a:r>
          </a:p>
          <a:p>
            <a:pPr lvl="1"/>
            <a:r>
              <a:rPr lang="en-AU" dirty="0"/>
              <a:t>Basket or transaction identifier</a:t>
            </a:r>
          </a:p>
        </p:txBody>
      </p:sp>
    </p:spTree>
    <p:extLst>
      <p:ext uri="{BB962C8B-B14F-4D97-AF65-F5344CB8AC3E}">
        <p14:creationId xmlns:p14="http://schemas.microsoft.com/office/powerpoint/2010/main" val="1445093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94E28-0C6C-525E-A385-F519396F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332AD-88AE-8E6A-AAF2-3E1B5E737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 preparation for the dataset analysis:</a:t>
            </a:r>
          </a:p>
          <a:p>
            <a:pPr lvl="1"/>
            <a:r>
              <a:rPr lang="en-AU" dirty="0" err="1"/>
              <a:t>Coversion</a:t>
            </a:r>
            <a:r>
              <a:rPr lang="en-AU" dirty="0"/>
              <a:t> date fields to datetime format.</a:t>
            </a:r>
          </a:p>
          <a:p>
            <a:pPr lvl="1"/>
            <a:r>
              <a:rPr lang="en-AU" dirty="0"/>
              <a:t>Removed records with missing or invalid customer identifiers.</a:t>
            </a:r>
          </a:p>
          <a:p>
            <a:pPr lvl="1"/>
            <a:r>
              <a:rPr lang="en-AU" dirty="0"/>
              <a:t>Standardised column names for consistency.</a:t>
            </a:r>
          </a:p>
          <a:p>
            <a:pPr lvl="1"/>
            <a:r>
              <a:rPr lang="en-AU" dirty="0"/>
              <a:t>Created derived fields:</a:t>
            </a:r>
          </a:p>
          <a:p>
            <a:pPr lvl="2"/>
            <a:r>
              <a:rPr lang="en-AU" dirty="0"/>
              <a:t>Year and month</a:t>
            </a:r>
          </a:p>
          <a:p>
            <a:pPr lvl="2"/>
            <a:r>
              <a:rPr lang="en-AU" dirty="0"/>
              <a:t> Transaction value</a:t>
            </a:r>
          </a:p>
          <a:p>
            <a:pPr lvl="2"/>
            <a:r>
              <a:rPr lang="en-AU" dirty="0"/>
              <a:t>Customer purchase frequency</a:t>
            </a:r>
          </a:p>
        </p:txBody>
      </p:sp>
    </p:spTree>
    <p:extLst>
      <p:ext uri="{BB962C8B-B14F-4D97-AF65-F5344CB8AC3E}">
        <p14:creationId xmlns:p14="http://schemas.microsoft.com/office/powerpoint/2010/main" val="3258337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B3A5-6AEE-4B76-CC27-9DB57B9E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373431"/>
            <a:ext cx="9905998" cy="1478570"/>
          </a:xfrm>
        </p:spPr>
        <p:txBody>
          <a:bodyPr/>
          <a:lstStyle/>
          <a:p>
            <a:r>
              <a:rPr lang="en-AU" dirty="0"/>
              <a:t>Customer definitions of 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6C403-6606-1B2F-237C-145E29E68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887443"/>
            <a:ext cx="9905999" cy="2109859"/>
          </a:xfrm>
        </p:spPr>
        <p:txBody>
          <a:bodyPr/>
          <a:lstStyle/>
          <a:p>
            <a:r>
              <a:rPr lang="en-AU" dirty="0"/>
              <a:t>A New Customer is a customer with only one purchase during the analysis period.</a:t>
            </a:r>
          </a:p>
          <a:p>
            <a:r>
              <a:rPr lang="en-AU" dirty="0"/>
              <a:t>And, a Loyal Customer is a customer with two or more purchase occasions.</a:t>
            </a:r>
          </a:p>
        </p:txBody>
      </p:sp>
    </p:spTree>
    <p:extLst>
      <p:ext uri="{BB962C8B-B14F-4D97-AF65-F5344CB8AC3E}">
        <p14:creationId xmlns:p14="http://schemas.microsoft.com/office/powerpoint/2010/main" val="530324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01938-EEB4-56C6-5918-6F109CB8F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Revenue Trend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99E1F-932B-6873-8609-DA3EC6D4A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4299659"/>
            <a:ext cx="9905999" cy="1812316"/>
          </a:xfrm>
        </p:spPr>
        <p:txBody>
          <a:bodyPr/>
          <a:lstStyle/>
          <a:p>
            <a:pPr marL="0" indent="0">
              <a:buNone/>
            </a:pPr>
            <a:r>
              <a:rPr lang="en-AU" b="1" u="sng" dirty="0"/>
              <a:t>Key insight</a:t>
            </a:r>
            <a:r>
              <a:rPr lang="en-AU" b="1" dirty="0"/>
              <a:t>:</a:t>
            </a:r>
          </a:p>
          <a:p>
            <a:r>
              <a:rPr lang="en-AU" dirty="0"/>
              <a:t>Revenue shows relatively flat growth over time, indicating that existing strategies may not be sufficient to reach the targeted 5% increase.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DA5D63-A57A-23FA-13D3-B6CCEE10E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178" y="1749815"/>
            <a:ext cx="6700466" cy="321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1901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9B85-E4F6-3206-B480-D8F6008D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89980"/>
          </a:xfrm>
        </p:spPr>
        <p:txBody>
          <a:bodyPr/>
          <a:lstStyle/>
          <a:p>
            <a:r>
              <a:rPr lang="en-AU" dirty="0"/>
              <a:t>Revenue contribution:</a:t>
            </a:r>
            <a:br>
              <a:rPr lang="en-AU" dirty="0"/>
            </a:br>
            <a:r>
              <a:rPr lang="en-AU" dirty="0"/>
              <a:t>loyal versus new 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C3B14-E7F8-C6E7-2731-3CA9FA7A0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4195245"/>
            <a:ext cx="9905999" cy="1875946"/>
          </a:xfrm>
        </p:spPr>
        <p:txBody>
          <a:bodyPr/>
          <a:lstStyle/>
          <a:p>
            <a:pPr marL="0" indent="0">
              <a:buNone/>
            </a:pPr>
            <a:r>
              <a:rPr lang="en-AU" b="1" u="sng" dirty="0"/>
              <a:t>Key insight</a:t>
            </a:r>
            <a:r>
              <a:rPr lang="en-AU" b="1" dirty="0"/>
              <a:t>:</a:t>
            </a:r>
          </a:p>
          <a:p>
            <a:r>
              <a:rPr lang="en-AU" dirty="0"/>
              <a:t>While loyal customers represent a smaller proportion of total customers, they contribute a disproportionately larger share of total revenue.</a:t>
            </a:r>
          </a:p>
          <a:p>
            <a:endParaRPr lang="en-A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13D2F99-BEED-84C9-D702-8F6B1DBA8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677" y="1908498"/>
            <a:ext cx="6815470" cy="2854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6325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9E171-C3BD-8154-EBBC-CD829AEBD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98801"/>
            <a:ext cx="9905998" cy="1478570"/>
          </a:xfrm>
        </p:spPr>
        <p:txBody>
          <a:bodyPr/>
          <a:lstStyle/>
          <a:p>
            <a:pPr algn="ctr"/>
            <a:r>
              <a:rPr lang="en-AU" dirty="0"/>
              <a:t>SPEND &amp; CONVERSION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38250-8545-B88A-3481-C8AD96001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4259041"/>
            <a:ext cx="9905999" cy="2163025"/>
          </a:xfrm>
        </p:spPr>
        <p:txBody>
          <a:bodyPr/>
          <a:lstStyle/>
          <a:p>
            <a:pPr marL="0" indent="0">
              <a:buNone/>
            </a:pPr>
            <a:r>
              <a:rPr lang="en-AU" b="1" u="sng" dirty="0"/>
              <a:t>Key insight</a:t>
            </a:r>
            <a:r>
              <a:rPr lang="en-AU" b="1" dirty="0"/>
              <a:t>:</a:t>
            </a:r>
          </a:p>
          <a:p>
            <a:r>
              <a:rPr lang="en-AU" dirty="0"/>
              <a:t>Loyal customers have a higher average spending per transaction</a:t>
            </a:r>
          </a:p>
          <a:p>
            <a:r>
              <a:rPr lang="en-AU" dirty="0"/>
              <a:t>A significant proportion of customers make only on purchase and do not convert into repeat buyers.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3B6695E-8046-1DB8-C44C-E520E128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21" y="1315220"/>
            <a:ext cx="5297579" cy="309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5DAAA5A-1024-9EFF-3F7A-502CD8803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664" y="1321879"/>
            <a:ext cx="4875914" cy="309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054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23D21-DF4E-F351-4A21-D70B9661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01290"/>
            <a:ext cx="9905998" cy="1478570"/>
          </a:xfrm>
        </p:spPr>
        <p:txBody>
          <a:bodyPr/>
          <a:lstStyle/>
          <a:p>
            <a:r>
              <a:rPr lang="en-AU" dirty="0"/>
              <a:t>OPPORTUNITY TO ACHIEVE </a:t>
            </a:r>
            <a:br>
              <a:rPr lang="en-AU" dirty="0"/>
            </a:br>
            <a:r>
              <a:rPr lang="en-AU" dirty="0"/>
              <a:t>+5% REVENUE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125C3-9D74-D06F-3AA0-F4D85D7FD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802382"/>
            <a:ext cx="9905999" cy="2511426"/>
          </a:xfrm>
        </p:spPr>
        <p:txBody>
          <a:bodyPr/>
          <a:lstStyle/>
          <a:p>
            <a:pPr marL="0" indent="0">
              <a:buNone/>
            </a:pPr>
            <a:r>
              <a:rPr lang="en-AU" b="1" u="sng" dirty="0"/>
              <a:t>Based on Analysis</a:t>
            </a:r>
            <a:r>
              <a:rPr lang="en-AU" dirty="0"/>
              <a:t>:</a:t>
            </a:r>
          </a:p>
          <a:p>
            <a:r>
              <a:rPr lang="en-AU" dirty="0"/>
              <a:t>A modest increase in loyal customer average spend, or</a:t>
            </a:r>
          </a:p>
          <a:p>
            <a:r>
              <a:rPr lang="en-AU" dirty="0"/>
              <a:t>A small improvement in first time customer conversion could collectively deliver the targeted 5% revenue growth over two years.</a:t>
            </a:r>
          </a:p>
        </p:txBody>
      </p:sp>
    </p:spTree>
    <p:extLst>
      <p:ext uri="{BB962C8B-B14F-4D97-AF65-F5344CB8AC3E}">
        <p14:creationId xmlns:p14="http://schemas.microsoft.com/office/powerpoint/2010/main" val="2285852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43A58-12C0-8E83-2550-7A1F156E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F0363-BDEB-1C28-514C-DF7FB9ED7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Introduce targeted loyalty incentives to encourage repeat purchases.</a:t>
            </a:r>
          </a:p>
          <a:p>
            <a:r>
              <a:rPr lang="en-AU" dirty="0"/>
              <a:t>Improve the post-purchase communication and offers for first-time customers.</a:t>
            </a:r>
          </a:p>
          <a:p>
            <a:r>
              <a:rPr lang="en-AU" dirty="0"/>
              <a:t>Track key KPIs such as repeat purchase rate, average order value, and loyal customer revenue share.</a:t>
            </a:r>
          </a:p>
        </p:txBody>
      </p:sp>
    </p:spTree>
    <p:extLst>
      <p:ext uri="{BB962C8B-B14F-4D97-AF65-F5344CB8AC3E}">
        <p14:creationId xmlns:p14="http://schemas.microsoft.com/office/powerpoint/2010/main" val="604690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63A45-5A70-CD36-5D10-0A334C44F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69185"/>
          </a:xfrm>
        </p:spPr>
        <p:txBody>
          <a:bodyPr/>
          <a:lstStyle/>
          <a:p>
            <a:r>
              <a:rPr lang="en-AU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30238-6754-CD9F-1CCF-F899B38C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15784"/>
            <a:ext cx="9905999" cy="4075417"/>
          </a:xfrm>
        </p:spPr>
        <p:txBody>
          <a:bodyPr>
            <a:normAutofit fontScale="85000" lnSpcReduction="10000"/>
          </a:bodyPr>
          <a:lstStyle/>
          <a:p>
            <a:r>
              <a:rPr lang="en-AU" dirty="0" err="1"/>
              <a:t>SuperFoodsMax</a:t>
            </a:r>
            <a:r>
              <a:rPr lang="en-AU" dirty="0"/>
              <a:t>. (2019–2022) </a:t>
            </a:r>
            <a:r>
              <a:rPr lang="en-AU" i="1" dirty="0"/>
              <a:t>Sales dataset 2019–2022</a:t>
            </a:r>
            <a:r>
              <a:rPr lang="en-AU" dirty="0"/>
              <a:t> [data set], provided as part of the RMIT Online </a:t>
            </a:r>
            <a:r>
              <a:rPr lang="en-AU" i="1" dirty="0"/>
              <a:t>Business Analytics with Python and SQL</a:t>
            </a:r>
            <a:r>
              <a:rPr lang="en-AU" dirty="0"/>
              <a:t> course.</a:t>
            </a:r>
          </a:p>
          <a:p>
            <a:r>
              <a:rPr lang="en-AU" dirty="0"/>
              <a:t>Python Software Foundation. (2025) </a:t>
            </a:r>
            <a:r>
              <a:rPr lang="en-AU" i="1" dirty="0"/>
              <a:t>Python programming language</a:t>
            </a:r>
            <a:r>
              <a:rPr lang="en-AU" dirty="0"/>
              <a:t> [software], version 3.x, available at: </a:t>
            </a:r>
            <a:r>
              <a:rPr lang="en-AU" dirty="0">
                <a:hlinkClick r:id="rId2"/>
              </a:rPr>
              <a:t>https://www.python.org/</a:t>
            </a:r>
            <a:r>
              <a:rPr lang="en-AU" dirty="0"/>
              <a:t> (Accessed: December 2025).</a:t>
            </a:r>
          </a:p>
          <a:p>
            <a:r>
              <a:rPr lang="en-AU" dirty="0"/>
              <a:t>The pandas development team. (2025) </a:t>
            </a:r>
            <a:r>
              <a:rPr lang="en-AU" i="1" dirty="0"/>
              <a:t>pandas: Python data analysis library</a:t>
            </a:r>
            <a:r>
              <a:rPr lang="en-AU" dirty="0"/>
              <a:t> [software], version 2.x, available at: </a:t>
            </a:r>
            <a:r>
              <a:rPr lang="en-AU" dirty="0">
                <a:hlinkClick r:id="rId3"/>
              </a:rPr>
              <a:t>https://pandas.pydata.org/</a:t>
            </a:r>
            <a:r>
              <a:rPr lang="en-AU" dirty="0"/>
              <a:t> (Accessed: December 2025).</a:t>
            </a:r>
          </a:p>
          <a:p>
            <a:r>
              <a:rPr lang="en-AU" dirty="0"/>
              <a:t>Matplotlib Development Team. (2025) </a:t>
            </a:r>
            <a:r>
              <a:rPr lang="en-AU" i="1" dirty="0"/>
              <a:t>Matplotlib: Visualization with Python</a:t>
            </a:r>
            <a:r>
              <a:rPr lang="en-AU" dirty="0"/>
              <a:t> [software], version 3.x, available at: </a:t>
            </a:r>
            <a:r>
              <a:rPr lang="en-AU" dirty="0">
                <a:hlinkClick r:id="rId4"/>
              </a:rPr>
              <a:t>https://matplotlib.org/</a:t>
            </a:r>
            <a:r>
              <a:rPr lang="en-AU" dirty="0"/>
              <a:t> (Accessed: December 2025).</a:t>
            </a:r>
          </a:p>
          <a:p>
            <a:r>
              <a:rPr lang="en-AU" dirty="0"/>
              <a:t>RMIT University Library. (2025) </a:t>
            </a:r>
            <a:r>
              <a:rPr lang="en-AU" i="1" dirty="0"/>
              <a:t>RMIT Harvard referencing guide</a:t>
            </a:r>
            <a:r>
              <a:rPr lang="en-AU" dirty="0"/>
              <a:t>, Easy Cite, available at: </a:t>
            </a:r>
            <a:r>
              <a:rPr lang="en-AU" dirty="0">
                <a:hlinkClick r:id="rId5"/>
              </a:rPr>
              <a:t>https://www.lib.rmit.edu.au/easy-cite/?styleguide=styleguide-1</a:t>
            </a:r>
            <a:r>
              <a:rPr lang="en-AU" dirty="0"/>
              <a:t> (Accessed: December 2025).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AA4D1-3151-470F-3E4C-9C04E75CD889}"/>
              </a:ext>
            </a:extLst>
          </p:cNvPr>
          <p:cNvSpPr txBox="1"/>
          <p:nvPr/>
        </p:nvSpPr>
        <p:spPr>
          <a:xfrm>
            <a:off x="1695236" y="6236413"/>
            <a:ext cx="8199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PS: Sorry, I’ve been trying to catch-up since I’ve been sick on/off for the past weeks. TY!</a:t>
            </a:r>
          </a:p>
        </p:txBody>
      </p:sp>
    </p:spTree>
    <p:extLst>
      <p:ext uri="{BB962C8B-B14F-4D97-AF65-F5344CB8AC3E}">
        <p14:creationId xmlns:p14="http://schemas.microsoft.com/office/powerpoint/2010/main" val="1996552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133</TotalTime>
  <Words>619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</vt:lpstr>
      <vt:lpstr>Driving Revenue Growth Through Customer Analytics</vt:lpstr>
      <vt:lpstr>Business question: How can superfoodsmax increase its sales  revenue by 5% over the next two years?</vt:lpstr>
      <vt:lpstr>Why does this matter for decision makers?</vt:lpstr>
      <vt:lpstr>DATASET OVERVIEW  </vt:lpstr>
      <vt:lpstr>Data Cleaning &amp; preparation</vt:lpstr>
      <vt:lpstr>Customer definitions of term</vt:lpstr>
      <vt:lpstr>Revenue Trend over time</vt:lpstr>
      <vt:lpstr>Revenue contribution: loyal versus new customers</vt:lpstr>
      <vt:lpstr>SPEND &amp; CONVERSION INSIGHT</vt:lpstr>
      <vt:lpstr>OPPORTUNITY TO ACHIEVE  +5% REVENUE GROWTH</vt:lpstr>
      <vt:lpstr>RECOMMENDATIONS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Aloba</dc:creator>
  <cp:lastModifiedBy>Joshua Aloba</cp:lastModifiedBy>
  <cp:revision>1</cp:revision>
  <dcterms:created xsi:type="dcterms:W3CDTF">2025-12-14T11:52:13Z</dcterms:created>
  <dcterms:modified xsi:type="dcterms:W3CDTF">2025-12-14T20:44:10Z</dcterms:modified>
</cp:coreProperties>
</file>